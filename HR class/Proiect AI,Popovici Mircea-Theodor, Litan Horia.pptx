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3" r:id="rId6"/>
    <p:sldId id="264" r:id="rId7"/>
    <p:sldId id="276" r:id="rId8"/>
    <p:sldId id="265" r:id="rId9"/>
    <p:sldId id="259" r:id="rId10"/>
    <p:sldId id="266" r:id="rId11"/>
    <p:sldId id="267" r:id="rId12"/>
    <p:sldId id="278" r:id="rId13"/>
    <p:sldId id="277" r:id="rId14"/>
    <p:sldId id="268" r:id="rId15"/>
    <p:sldId id="260" r:id="rId16"/>
    <p:sldId id="269" r:id="rId17"/>
    <p:sldId id="271" r:id="rId18"/>
    <p:sldId id="270" r:id="rId19"/>
    <p:sldId id="272" r:id="rId20"/>
    <p:sldId id="273" r:id="rId21"/>
    <p:sldId id="274" r:id="rId22"/>
    <p:sldId id="261" r:id="rId23"/>
    <p:sldId id="280" r:id="rId24"/>
    <p:sldId id="275" r:id="rId25"/>
    <p:sldId id="262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customXml" Target="../customXml/item3.xml"/><Relationship Id="rId32" Type="http://schemas.openxmlformats.org/officeDocument/2006/relationships/customXml" Target="../customXml/item2.xml"/><Relationship Id="rId31" Type="http://schemas.openxmlformats.org/officeDocument/2006/relationships/customXml" Target="../customXml/item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  <a:endParaRPr lang="en-US" sz="8000">
              <a:solidFill>
                <a:schemeClr val="tx1"/>
              </a:solidFill>
              <a:effectLst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  <a:endParaRPr lang="en-US" sz="800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8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F20A6-BCC5-4FB7-83FA-2D588AE52A3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47523-C7B8-4021-B294-1F308D6C48AF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Proiect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Popovici Mircea-Theodor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Litan Horia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Introducere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Scopul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combina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un model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analiz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sentiment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financiar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multe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iuni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un model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regresie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fiecare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iune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stocului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zi.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scade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Scopul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nostru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a face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scurt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durat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(o zi)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SIGURE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maximiza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tigurile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. (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minimiza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pierderile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18518"/>
            <a:ext cx="10283671" cy="1478570"/>
          </a:xfrm>
        </p:spPr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2. Prima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Sentiment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Scop </a:t>
            </a:r>
            <a:r>
              <a:rPr lang="ro-RO" sz="3200" u="sng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 date</a:t>
            </a:r>
            <a:endParaRPr lang="en-US" sz="32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Scop: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Prezicerea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sentimentului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pozitiv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negativ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) al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articolelor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despre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acțiuni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b="1" err="1">
                <a:latin typeface="Arial" panose="020B0604020202020204" pitchFamily="34" charset="0"/>
                <a:cs typeface="Arial" panose="020B0604020202020204" pitchFamily="34" charset="0"/>
              </a:rPr>
              <a:t>Sursă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date: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Articole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text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salvate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fișiere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.csv (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titlu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+ text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articol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Etichetare: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Bazată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pe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evoluția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acțiunii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în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ziua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următoare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(up/down).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400" u="sn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18518"/>
            <a:ext cx="10283671" cy="1478570"/>
          </a:xfrm>
        </p:spPr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2. Prima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Sentiment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141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Preprocesare</a:t>
            </a: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 text</a:t>
            </a:r>
            <a:endParaRPr lang="en-US" sz="32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Curățare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text: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Conversi</a:t>
            </a:r>
            <a:r>
              <a:rPr lang="ro-RO" altLang="en-US" sz="20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litere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mici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Eliminare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punctuație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cifre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simboluri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ro-RO" altLang="en-US" sz="2000">
                <a:latin typeface="Arial" panose="020B0604020202020204" pitchFamily="34" charset="0"/>
                <a:cs typeface="Arial" panose="020B0604020202020204" pitchFamily="34" charset="0"/>
              </a:rPr>
              <a:t>Eliminare articolele în alte limbi înafară de engleză și a 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reclamelor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ro-RO" altLang="en-US" sz="20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Looking for stock market analysis and research with proves results? Zacks.com offers in-depth financial research with over 30years of proven results.”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Tokenizare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și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padding cu Tokenizer din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Vectorizare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US" altLang="en-US" sz="2000" b="1" err="1">
                <a:latin typeface="Arial" panose="020B0604020202020204" pitchFamily="34" charset="0"/>
                <a:cs typeface="Arial" panose="020B0604020202020204" pitchFamily="34" charset="0"/>
              </a:rPr>
              <a:t>GloVe</a:t>
            </a:r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embeddings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(50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dimensiuni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Se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încarcă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fișierul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        Se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construiește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matricea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de embedding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vocabularul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18518"/>
            <a:ext cx="10283671" cy="1478570"/>
          </a:xfrm>
        </p:spPr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2. Prima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Sentiment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69806"/>
            <a:ext cx="9905999" cy="4945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Arhitectura</a:t>
            </a: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modelului</a:t>
            </a:r>
            <a:endParaRPr lang="en-US" sz="20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Model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secven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ial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Embedding (cu weights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GloVe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Bidirectional (LSTM + GRU) + Dropout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Dense final cu sigmoid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output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binar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Compilare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loss=‘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binary_crossentropy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optimizer=‘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adam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metrics=[‘accuracy’]         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sp useBgFill="1"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pic>
        <p:nvPicPr>
          <p:cNvPr id="3" name="Picture 2" descr="A computer screen shot of a program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87" y="965201"/>
            <a:ext cx="9614825" cy="4927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  <a:headEnd/>
            <a:tailEnd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18518"/>
            <a:ext cx="10283671" cy="1478570"/>
          </a:xfrm>
        </p:spPr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2. Prima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Sentiment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69806"/>
            <a:ext cx="9905999" cy="4945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Rezultate</a:t>
            </a: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32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u="sng" err="1">
                <a:latin typeface="Arial" panose="020B0604020202020204" pitchFamily="34" charset="0"/>
                <a:cs typeface="Arial" panose="020B0604020202020204" pitchFamily="34" charset="0"/>
              </a:rPr>
              <a:t>performan</a:t>
            </a:r>
            <a:r>
              <a:rPr lang="ro-RO" sz="3200" u="sng">
                <a:latin typeface="Arial" panose="020B0604020202020204" pitchFamily="34" charset="0"/>
                <a:cs typeface="Arial" panose="020B0604020202020204" pitchFamily="34" charset="0"/>
              </a:rPr>
              <a:t>ță</a:t>
            </a:r>
            <a:endParaRPr lang="en-US" sz="32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Acurate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 final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aproximativ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98%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depinde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run)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model,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scalare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tokenizer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Export in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rirea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experimentelor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3.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Price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Scop </a:t>
            </a:r>
            <a:r>
              <a:rPr lang="ro-RO" sz="3600" u="sng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 date</a:t>
            </a:r>
            <a:endParaRPr lang="en-US" sz="3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Scop: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direc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iei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ului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iunii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ziua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toare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(up/down)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Caracteristici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OHLCV,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indicatori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tehnici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Score-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sentiment generate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primul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Clasificare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binara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target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calculat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din Close_t+1 –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Close_t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3.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Price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Preprocesare</a:t>
            </a: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 date</a:t>
            </a:r>
            <a:endParaRPr lang="en-US" sz="3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Normaliz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valoril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MinMaxScaler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Cre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ferestr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elor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secven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 (lookback window)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Sentiment: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 Score-ul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adaugat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ca feature la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fiecare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secven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ță.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train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test,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cronologic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3.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Price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Arhitectura</a:t>
            </a: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modelului</a:t>
            </a:r>
            <a:endParaRPr lang="en-US" sz="3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Model LSTM: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LSTM+Dropout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Dense cu sigmoid final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Input shape: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batch_size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lookback,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num_features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Optimizare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Num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 de unit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dropout, learning rate,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automat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pic>
        <p:nvPicPr>
          <p:cNvPr id="2" name="Picture 1" descr="A computer screen shot of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2107819"/>
            <a:ext cx="10261600" cy="2642362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  <a:headEnd/>
            <a:tailEnd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screen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387" y="2198730"/>
            <a:ext cx="11325225" cy="895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832" y="3763921"/>
            <a:ext cx="106483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Acesta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un snippet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dintr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-un csv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Apple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Target –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(1 –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daca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ziua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urmatoare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0 –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scade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3.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doua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proiectului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– Price Model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Rezultate</a:t>
            </a: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3600" u="sng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600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u="sng" err="1">
                <a:latin typeface="Arial" panose="020B0604020202020204" pitchFamily="34" charset="0"/>
                <a:cs typeface="Arial" panose="020B0604020202020204" pitchFamily="34" charset="0"/>
              </a:rPr>
              <a:t>analiz</a:t>
            </a:r>
            <a:r>
              <a:rPr lang="ro-RO" sz="3600" u="sng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endParaRPr lang="en-US" sz="3600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Acurate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e: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Model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doar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LSTM: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aproximativ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76%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         Model GRU + LSTM: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aproximativ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65%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posibil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overfitting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set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dezechilibrat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Procesul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automatizare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organizeaz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reproduce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experimentele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modelele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Machine Learning + util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versionarea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modelelor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Automatizarea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codul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executa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sarcini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repetitive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economisind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timp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reduc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erorile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4.1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expermients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experiments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testa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rezultatul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modelului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nostru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fiecare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stock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parte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total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avem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30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stockuri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IMPORTANT! Am f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cut 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un model (care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pre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ul 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iun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fiecare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stock +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sentiment analysis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ajuns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un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rezultat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satisf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tor,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rulat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multe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teste cu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diferi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hiperap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rametrii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ne-am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experiments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decide care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dintre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tia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sunt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cei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buni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nostru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4.2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models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Dup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ajuns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un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rezultat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bun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experiments, am ales cel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bun run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l-am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models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toate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cele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31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Ulterior am f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cut un program care descarc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modelele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nregistrate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models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salveaz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local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folderul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mlruns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/models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43628"/>
            <a:ext cx="10905066" cy="5370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4.3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automatizarea</a:t>
            </a:r>
            <a:endParaRPr lang="en-US" sz="280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acest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am f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cut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automatiz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rile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Actions.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total sunt 3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 procese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ro-RO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Descarc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construie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incarc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libr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ria de Docker remote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o-RO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Prediction Daily Run –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ruleaz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zilnic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or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fix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rezultatul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toarea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zi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fiec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rui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stoc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o-RO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"Trader"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automatizat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– se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conecteaz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Alpaca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și,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preziceri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cump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vinde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stocuri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face profit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pic>
        <p:nvPicPr>
          <p:cNvPr id="2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633221"/>
            <a:ext cx="10261600" cy="359155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  <a:headEnd/>
            <a:tailEnd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Testare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testare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platforma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Alpaca Markets cu un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"Paper Money"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adic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nu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bani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adev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).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pornit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o sum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virtual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100.000$.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Folosind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automatiz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rile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mentionate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precedent care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functioneaz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zilnic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or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fix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(15:00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16:30),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nostru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primul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rand,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urm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toarea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zi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financiar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celor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30 de ac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iuni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dup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conecteaz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Alpaca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cump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vinde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predic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f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cut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pic>
        <p:nvPicPr>
          <p:cNvPr id="2" name="Picture 1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096" y="965201"/>
            <a:ext cx="3029807" cy="4927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  <a:headEnd/>
            <a:tailEnd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</p:spPr>
      </p:pic>
      <p:pic>
        <p:nvPicPr>
          <p:cNvPr id="3" name="Picture 2" descr="A graph on a computer scree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1479297"/>
            <a:ext cx="10261600" cy="389940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  <a:headEnd/>
            <a:tailEnd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800" err="1">
                <a:latin typeface="Arial" panose="020B0604020202020204" pitchFamily="34" charset="0"/>
                <a:cs typeface="Arial" panose="020B0604020202020204" pitchFamily="34" charset="0"/>
              </a:rPr>
              <a:t>Concluzii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213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nceput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la o idee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simpl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(model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analiz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sentiment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pentru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propozi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ii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financiare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),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ajuns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prind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contur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noi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continuat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ad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ug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automatizare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ad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ugare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30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actiuni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). 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Nu ne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asteptam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lucr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acest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, ca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să aibă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succes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ș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rezultate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 de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bune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(p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â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l-am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testat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cu un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portofoliu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de "Paper money")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viitor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vrem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mai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aducem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func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ionalit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ăț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(un model care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prezice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volatilitatea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din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primele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15 minute din zi) (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Explic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Î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concluzie</a:t>
            </a:r>
            <a:r>
              <a:rPr lang="ro-RO" sz="20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proiectul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2000" err="1">
                <a:latin typeface="Arial" panose="020B0604020202020204" pitchFamily="34" charset="0"/>
                <a:cs typeface="Arial" panose="020B0604020202020204" pitchFamily="34" charset="0"/>
              </a:rPr>
              <a:t>fost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 un SUCCES !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500" y="2689715"/>
            <a:ext cx="8000999" cy="1478570"/>
          </a:xfrm>
        </p:spPr>
        <p:txBody>
          <a:bodyPr>
            <a:normAutofit/>
          </a:bodyPr>
          <a:lstStyle/>
          <a:p>
            <a:r>
              <a:rPr lang="ro-RO" sz="2800">
                <a:latin typeface="Arial" panose="020B0604020202020204" pitchFamily="34" charset="0"/>
                <a:cs typeface="Arial" panose="020B0604020202020204" pitchFamily="34" charset="0"/>
              </a:rPr>
              <a:t>Vă mulțumim pentru atenția acordată!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7CD89D570B24C97A1C407029819FB" ma:contentTypeVersion="9" ma:contentTypeDescription="Create a new document." ma:contentTypeScope="" ma:versionID="38d16b650562dc6fdb5700679fc25ace">
  <xsd:schema xmlns:xsd="http://www.w3.org/2001/XMLSchema" xmlns:xs="http://www.w3.org/2001/XMLSchema" xmlns:p="http://schemas.microsoft.com/office/2006/metadata/properties" xmlns:ns3="5fe78b24-4133-4816-b925-8445bf696f0d" xmlns:ns4="ab3bf863-a499-485c-b22b-18ab9ca9b64f" targetNamespace="http://schemas.microsoft.com/office/2006/metadata/properties" ma:root="true" ma:fieldsID="688c0765b8f10c280185342b6533d039" ns3:_="" ns4:_="">
    <xsd:import namespace="5fe78b24-4133-4816-b925-8445bf696f0d"/>
    <xsd:import namespace="ab3bf863-a499-485c-b22b-18ab9ca9b64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78b24-4133-4816-b925-8445bf696f0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bf863-a499-485c-b22b-18ab9ca9b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3bf863-a499-485c-b22b-18ab9ca9b64f" xsi:nil="true"/>
  </documentManagement>
</p:properties>
</file>

<file path=customXml/itemProps1.xml><?xml version="1.0" encoding="utf-8"?>
<ds:datastoreItem xmlns:ds="http://schemas.openxmlformats.org/officeDocument/2006/customXml" ds:itemID="{8D6FEB6C-5C36-438A-B0F5-D04604E14EA6}">
  <ds:schemaRefs/>
</ds:datastoreItem>
</file>

<file path=customXml/itemProps2.xml><?xml version="1.0" encoding="utf-8"?>
<ds:datastoreItem xmlns:ds="http://schemas.openxmlformats.org/officeDocument/2006/customXml" ds:itemID="{05DE7E29-F179-4DD5-B018-66C635017547}">
  <ds:schemaRefs/>
</ds:datastoreItem>
</file>

<file path=customXml/itemProps3.xml><?xml version="1.0" encoding="utf-8"?>
<ds:datastoreItem xmlns:ds="http://schemas.openxmlformats.org/officeDocument/2006/customXml" ds:itemID="{9B0ADF76-7E44-4A24-9181-A70F0EBBC5C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5550</Words>
  <Application>WPS Presentation</Application>
  <PresentationFormat>Widescreen</PresentationFormat>
  <Paragraphs>132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Trebuchet MS</vt:lpstr>
      <vt:lpstr>Microsoft YaHei</vt:lpstr>
      <vt:lpstr>Arial Unicode MS</vt:lpstr>
      <vt:lpstr>Tw Cen MT</vt:lpstr>
      <vt:lpstr>Calibri</vt:lpstr>
      <vt:lpstr>Circuit</vt:lpstr>
      <vt:lpstr>Proiect AI</vt:lpstr>
      <vt:lpstr>1. Introducere</vt:lpstr>
      <vt:lpstr>2. Prima parte a proiectului – Sentiment Model</vt:lpstr>
      <vt:lpstr>2. Prima parte a proiectului – Sentiment Model</vt:lpstr>
      <vt:lpstr>2. Prima parte a proiectului – Sentiment Model</vt:lpstr>
      <vt:lpstr>PowerPoint 演示文稿</vt:lpstr>
      <vt:lpstr>2. Prima parte a proiectului – Sentiment Model</vt:lpstr>
      <vt:lpstr>3. A doua parte a proiectului – Price Model</vt:lpstr>
      <vt:lpstr>3. A doua parte a proiectului – Price Model</vt:lpstr>
      <vt:lpstr>3. A doua parte a proiectului – Price Model</vt:lpstr>
      <vt:lpstr>PowerPoint 演示文稿</vt:lpstr>
      <vt:lpstr>PowerPoint 演示文稿</vt:lpstr>
      <vt:lpstr>3. A doua parte a proiectului – Price Model</vt:lpstr>
      <vt:lpstr>4. MLFlow si Procesul de automatizare</vt:lpstr>
      <vt:lpstr>4.1 MLflow expermients </vt:lpstr>
      <vt:lpstr>PowerPoint 演示文稿</vt:lpstr>
      <vt:lpstr>4.2 Mlflow models</vt:lpstr>
      <vt:lpstr>PowerPoint 演示文稿</vt:lpstr>
      <vt:lpstr>4.3 automatizarea</vt:lpstr>
      <vt:lpstr>PowerPoint 演示文稿</vt:lpstr>
      <vt:lpstr>5. Testare</vt:lpstr>
      <vt:lpstr>PowerPoint 演示文稿</vt:lpstr>
      <vt:lpstr>PowerPoint 演示文稿</vt:lpstr>
      <vt:lpstr>6. Concluzii</vt:lpstr>
      <vt:lpstr>Vă mulțumim pentru atenția acordată!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Mircea - Theodor POPOVICI (140994)</dc:creator>
  <cp:lastModifiedBy>madalina</cp:lastModifiedBy>
  <cp:revision>2</cp:revision>
  <dcterms:created xsi:type="dcterms:W3CDTF">2025-07-07T15:32:00Z</dcterms:created>
  <dcterms:modified xsi:type="dcterms:W3CDTF">2025-09-15T09:04:21Z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0x0101001CD7CD89D570B24C97A1C407029819FB</vt:lpwstr>
  </property>
  <property fmtid="{D5CDD505-2E9C-101B-9397-08002B2CF9AE}" pid="3" name="ICV">
    <vt:lpwstr>E00586459A5D4E3EB2BE63FDA00D551F_13</vt:lpwstr>
  </property>
  <property fmtid="{D5CDD505-2E9C-101B-9397-08002B2CF9AE}" pid="4" name="KSOProductBuildVer">
    <vt:lpwstr>1033-12.2.0.22549</vt:lpwstr>
  </property>
</Properties>
</file>